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125E-57A5-4517-84D0-8C4F1C6E256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B5924-71CF-4267-AF6D-0E1EBB25C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04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B5924-71CF-4267-AF6D-0E1EBB25C67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40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6C76-7A09-3A96-BEBB-7F00F63EC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DFD9B-5B43-0FE4-DE4E-0F005FFF9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D0426-9E00-31CA-D048-B252F75C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1DB30-8146-C465-488D-DEEC7466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4CC4-6774-44B8-834B-A8665369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9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DEBA-F320-9B7A-EDF1-2E75750B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BC80B-CC35-F17B-0291-72E6F3A6F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73748-6C77-8D57-F3D0-DBF9FD18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2909C-ABA1-52BF-5A6F-39CB63E7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628DD-6122-0125-9CCD-C6D88B96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007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7349-7939-50C3-E141-E89BA16B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FF3C1-9E10-C979-9D96-DC528EFE5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3F9F-FE51-5D22-EBFB-001F5843C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1842-0D7B-3906-7113-BA46BF4C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08EA-8C82-628F-6ADB-12AEE4D4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35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F0B8-BCF3-2071-D70A-829769414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5D7BF-857B-6BE7-EDA8-C6DAE6867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829FF-8380-E206-EF7F-A68080892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5581B-95DF-C346-0657-04CBFAF7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EA127-FB1E-10AF-AC0D-A54DB528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E86BC-E64E-AF9A-9A6A-066C9B65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915D6-03E7-D33B-D712-FA09B561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D8EB6-7700-60F7-66F7-723AB866D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AE557-ED8F-4BD0-0FB7-CB3435453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4FF95-8451-7EE2-7FBC-5B7BF2B82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0F170-7C35-2D4F-B032-7BE3F1F3D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3A81E-1AF6-D6D4-7A05-93EAAC94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095FF-5D30-E827-31F1-C44C213E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38656-A737-8B2F-1ABF-5AD7EB57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27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A545-43F4-FE0A-BF99-D2BEAB1A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BD51B-2594-DB1A-8BC9-FD6C87E8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BFFC4-DB9C-51ED-E9DE-CCD840FE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D9F0B-6A63-6D37-2E10-A8C4A255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37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C3ADE-FD6A-05D2-2114-419DE523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F7949-42D7-4889-3E39-B45027D6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87B50-573C-79DB-F6FC-745441CD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5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66A6-8409-EE22-B84F-89329B7B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CC37-CE00-B730-C3FF-D2766D98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44B2A-E00F-0082-4845-87B31ED84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CFFC9-D21C-1FC3-2227-90F2CEEC6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F4DF1-BE09-8D53-1E0E-107CC7E9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76C7-103B-EB6C-78F7-BB767024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963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05DB-1E9E-14B2-4ABD-5B14521E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2011E-5AFE-7F42-18FC-8FAA18556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EF63C-3FD4-7544-EE08-300DD370A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4DFBA-E5FD-4841-183C-668EBE9A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DC78D-7A5C-F725-C222-EB037241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60D5D-E759-E9DF-9F25-E0025B8A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7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A1D2-D649-9A66-2C84-33C507F6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4CBBA-8BD6-3351-B2BC-F16928EEB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2A29E-D822-09ED-B76D-2A91BC45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17245-024E-A6B2-1FC0-51C5B817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693D8-F225-F443-F885-FF71BE41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95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FA0F4-DFFB-0A40-3F66-63AECD295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63B0A-8E00-B56A-17E7-C648D961C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8AD74-C6D6-5DB2-26C6-9B272DAC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B4197-11CC-BED5-37A9-BD1547E3F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A4952-BE51-AA98-AF7F-D294B4CA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63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DC2C2-7686-1AEB-94F7-5AB6968F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D5A4F-99E1-3086-8A82-4B5F54E56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E478D-77CB-5029-8CF5-8BB701380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909EB-C913-487E-8C90-8CDEC63D842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B75E1-5FED-E448-A315-78591ECD2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51896-D224-491F-F55B-32604BF72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7DAF1-83E5-454B-89BC-FF572B3DF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FC16-0BCD-134B-6D7E-EE95C8A00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226" y="345985"/>
            <a:ext cx="8725619" cy="1431057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 b="1" dirty="0" err="1"/>
              <a:t>Project</a:t>
            </a:r>
            <a:r>
              <a:rPr lang="en-US" sz="4000" b="1" dirty="0"/>
              <a:t> Title</a:t>
            </a:r>
            <a:br>
              <a:rPr lang="en-US" sz="4000" b="1" dirty="0"/>
            </a:br>
            <a:r>
              <a:rPr lang="en-US" sz="4000" dirty="0"/>
              <a:t>Predicting Loan Default Risk for Bank </a:t>
            </a:r>
            <a:r>
              <a:rPr lang="en-US" sz="4000" dirty="0" err="1"/>
              <a:t>Indessa</a:t>
            </a:r>
            <a:r>
              <a:rPr lang="en-US" sz="4000" dirty="0"/>
              <a:t> to Reduce Non-Performing Assets (NPAs)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FFEAA-475B-F379-3358-C434E9396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940" y="2303253"/>
            <a:ext cx="9512060" cy="159588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Dataset Overview</a:t>
            </a:r>
          </a:p>
          <a:p>
            <a:r>
              <a:rPr lang="en-US" b="1" dirty="0"/>
              <a:t>Source:</a:t>
            </a:r>
            <a:r>
              <a:rPr lang="en-US" dirty="0"/>
              <a:t> Bank </a:t>
            </a:r>
            <a:r>
              <a:rPr lang="en-US" dirty="0" err="1"/>
              <a:t>Indessa's</a:t>
            </a:r>
            <a:r>
              <a:rPr lang="en-US" dirty="0"/>
              <a:t> historical loan application and customer data (Internal Bank Data).</a:t>
            </a:r>
          </a:p>
          <a:p>
            <a:r>
              <a:rPr lang="en-US" b="1" dirty="0"/>
              <a:t>Size:</a:t>
            </a:r>
            <a:r>
              <a:rPr lang="en-US" dirty="0"/>
              <a:t> Not explicitly specified, but described as "messy data collected over all the years."</a:t>
            </a:r>
          </a:p>
          <a:p>
            <a:r>
              <a:rPr lang="en-US" b="1" dirty="0"/>
              <a:t>Type:</a:t>
            </a:r>
            <a:r>
              <a:rPr lang="en-US" dirty="0"/>
              <a:t> </a:t>
            </a:r>
            <a:r>
              <a:rPr lang="en-US" b="1" dirty="0"/>
              <a:t>Finance/Customer Data</a:t>
            </a:r>
            <a:r>
              <a:rPr lang="en-US" dirty="0"/>
              <a:t>. It includes features related to customer demographics, loan details, application information, and the outcome of the loan (default or non-default), which is crucial for determining the probability of a member defaulting.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6E041C-32DA-CA34-E14F-8AFEEE809499}"/>
              </a:ext>
            </a:extLst>
          </p:cNvPr>
          <p:cNvSpPr txBox="1"/>
          <p:nvPr/>
        </p:nvSpPr>
        <p:spPr>
          <a:xfrm>
            <a:off x="1578633" y="4203691"/>
            <a:ext cx="75193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Objective /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develop a </a:t>
            </a:r>
            <a:r>
              <a:rPr lang="en-US" b="1" dirty="0"/>
              <a:t>machine learning model</a:t>
            </a:r>
            <a:r>
              <a:rPr lang="en-US" dirty="0"/>
              <a:t> that can </a:t>
            </a:r>
            <a:r>
              <a:rPr lang="en-US" b="1" dirty="0"/>
              <a:t>predict the probability</a:t>
            </a:r>
            <a:r>
              <a:rPr lang="en-US" dirty="0"/>
              <a:t> that a loan applicant (member) will </a:t>
            </a:r>
            <a:r>
              <a:rPr lang="en-US" b="1" dirty="0"/>
              <a:t>default</a:t>
            </a:r>
            <a:r>
              <a:rPr lang="en-US" dirty="0"/>
              <a:t> on their loan.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Problem Statement (What they are trying to solve):</a:t>
            </a:r>
            <a:r>
              <a:rPr lang="en-US" dirty="0"/>
              <a:t> The bank is experiencing historically high </a:t>
            </a:r>
            <a:r>
              <a:rPr lang="en-US" b="1" dirty="0"/>
              <a:t>Non-Performing Assets (NPAs)</a:t>
            </a:r>
            <a:r>
              <a:rPr lang="en-US" dirty="0"/>
              <a:t>, primarily caused by </a:t>
            </a:r>
            <a:r>
              <a:rPr lang="en-US" b="1" dirty="0"/>
              <a:t>loan defaulters</a:t>
            </a:r>
            <a:r>
              <a:rPr lang="en-US" dirty="0"/>
              <a:t>, leading to a significant </a:t>
            </a:r>
            <a:r>
              <a:rPr lang="en-US" b="1" dirty="0"/>
              <a:t>loss of investor confidence</a:t>
            </a:r>
            <a:r>
              <a:rPr lang="en-US" dirty="0"/>
              <a:t> and a </a:t>
            </a:r>
            <a:r>
              <a:rPr lang="en-US" b="1" dirty="0"/>
              <a:t>20% drop in stock price</a:t>
            </a:r>
            <a:r>
              <a:rPr lang="en-US" dirty="0"/>
              <a:t>. The goal is to leverage historical data to </a:t>
            </a:r>
            <a:r>
              <a:rPr lang="en-US" b="1" dirty="0"/>
              <a:t>identify potential defaulters early</a:t>
            </a:r>
            <a:r>
              <a:rPr lang="en-US" dirty="0"/>
              <a:t> and thereby </a:t>
            </a:r>
            <a:r>
              <a:rPr lang="en-US" b="1" dirty="0"/>
              <a:t>devise an actionable plan</a:t>
            </a:r>
            <a:r>
              <a:rPr lang="en-US" dirty="0"/>
              <a:t> to reduce NPAs and restore financial stability</a:t>
            </a:r>
          </a:p>
        </p:txBody>
      </p:sp>
    </p:spTree>
    <p:extLst>
      <p:ext uri="{BB962C8B-B14F-4D97-AF65-F5344CB8AC3E}">
        <p14:creationId xmlns:p14="http://schemas.microsoft.com/office/powerpoint/2010/main" val="63115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043D878-0C23-41D8-C3D5-5289E2316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70" y="-221039"/>
            <a:ext cx="11835441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br>
              <a:rPr lang="en-US" dirty="0"/>
            </a:br>
            <a:r>
              <a:rPr lang="en-US" b="1" dirty="0"/>
              <a:t>Data Understanding &amp; Cleaning Summary</a:t>
            </a:r>
          </a:p>
          <a:p>
            <a:r>
              <a:rPr lang="en-US" b="1" dirty="0"/>
              <a:t>1. Key EDA Insights</a:t>
            </a:r>
          </a:p>
          <a:p>
            <a:r>
              <a:rPr lang="en-US" b="1" dirty="0"/>
              <a:t>Missing Values:</a:t>
            </a:r>
            <a:r>
              <a:rPr lang="en-US" dirty="0"/>
              <a:t> Found </a:t>
            </a:r>
            <a:r>
              <a:rPr lang="en-US" b="1" dirty="0"/>
              <a:t>many missing values</a:t>
            </a:r>
            <a:r>
              <a:rPr lang="en-US" dirty="0"/>
              <a:t> in both train and test data. Imputed </a:t>
            </a:r>
            <a:r>
              <a:rPr lang="en-US" b="1" dirty="0"/>
              <a:t>categorical</a:t>
            </a:r>
            <a:r>
              <a:rPr lang="en-US" dirty="0"/>
              <a:t> features (object type) with the </a:t>
            </a:r>
            <a:r>
              <a:rPr lang="en-US" b="1" dirty="0"/>
              <a:t>Mode</a:t>
            </a:r>
            <a:r>
              <a:rPr lang="en-US" dirty="0"/>
              <a:t> and </a:t>
            </a:r>
            <a:r>
              <a:rPr lang="en-US" b="1" dirty="0"/>
              <a:t>numerical</a:t>
            </a:r>
            <a:r>
              <a:rPr lang="en-US" dirty="0"/>
              <a:t> features (int/float) with the </a:t>
            </a:r>
            <a:r>
              <a:rPr lang="en-US" b="1" dirty="0"/>
              <a:t>Median</a:t>
            </a:r>
            <a:r>
              <a:rPr lang="en-US" dirty="0"/>
              <a:t> to maintain robustness.</a:t>
            </a:r>
          </a:p>
          <a:p>
            <a:r>
              <a:rPr lang="en-US" b="1" dirty="0"/>
              <a:t>Outliers:</a:t>
            </a:r>
            <a:r>
              <a:rPr lang="en-US" dirty="0"/>
              <a:t> Identified outliers in numerical data. Since a </a:t>
            </a:r>
            <a:r>
              <a:rPr lang="en-US" b="1" dirty="0"/>
              <a:t>classification problem</a:t>
            </a:r>
            <a:r>
              <a:rPr lang="en-US" dirty="0"/>
              <a:t> was being solved primarily with </a:t>
            </a:r>
            <a:r>
              <a:rPr lang="en-US" b="1" dirty="0"/>
              <a:t>tree-based algorithms</a:t>
            </a:r>
            <a:r>
              <a:rPr lang="en-US" dirty="0"/>
              <a:t>, outliers were </a:t>
            </a:r>
            <a:r>
              <a:rPr lang="en-US" b="1" dirty="0"/>
              <a:t>not aggressively removed</a:t>
            </a:r>
            <a:r>
              <a:rPr lang="en-US" dirty="0"/>
              <a:t> (tree models are less sensitive to them).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Major Cleaning/Preprocessing Steps</a:t>
            </a:r>
          </a:p>
          <a:p>
            <a:r>
              <a:rPr lang="en-US" b="1" dirty="0"/>
              <a:t>Encoding:</a:t>
            </a:r>
            <a:r>
              <a:rPr lang="en-US" dirty="0"/>
              <a:t> Applied a mix of encoding methods: </a:t>
            </a:r>
            <a:r>
              <a:rPr lang="en-US" b="1" dirty="0"/>
              <a:t>Label Encoding</a:t>
            </a:r>
            <a:r>
              <a:rPr lang="en-US" dirty="0"/>
              <a:t> and </a:t>
            </a:r>
            <a:r>
              <a:rPr lang="en-US" b="1" dirty="0"/>
              <a:t>Mapping</a:t>
            </a:r>
            <a:r>
              <a:rPr lang="en-US" dirty="0"/>
              <a:t> for some object-type features, and </a:t>
            </a:r>
            <a:r>
              <a:rPr lang="en-US" b="1" dirty="0"/>
              <a:t>One-Hot Encoding</a:t>
            </a:r>
            <a:r>
              <a:rPr lang="en-US" dirty="0"/>
              <a:t> for others.</a:t>
            </a:r>
          </a:p>
          <a:p>
            <a:r>
              <a:rPr lang="en-US" b="1" dirty="0"/>
              <a:t>Feature Engineering:</a:t>
            </a:r>
            <a:r>
              <a:rPr lang="en-US" dirty="0"/>
              <a:t> Performed </a:t>
            </a:r>
            <a:r>
              <a:rPr lang="en-US" b="1" dirty="0"/>
              <a:t>one key feature engineering step</a:t>
            </a:r>
            <a:r>
              <a:rPr lang="en-US" dirty="0"/>
              <a:t> to create a more predictive variable.</a:t>
            </a:r>
          </a:p>
          <a:p>
            <a:r>
              <a:rPr lang="en-US" b="1" dirty="0"/>
              <a:t>Scaling:</a:t>
            </a:r>
            <a:r>
              <a:rPr lang="en-US" dirty="0"/>
              <a:t> (Implicitly skipped) Scaling was not required as tree-based algorithms (Random Forest, </a:t>
            </a:r>
            <a:r>
              <a:rPr lang="en-US" dirty="0" err="1"/>
              <a:t>XGBoost</a:t>
            </a:r>
            <a:r>
              <a:rPr lang="en-US" dirty="0"/>
              <a:t>, etc.) are scale-invariant.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Challenges Faced</a:t>
            </a:r>
          </a:p>
          <a:p>
            <a:r>
              <a:rPr lang="en-US" b="1" dirty="0"/>
              <a:t>High Dimensionality:</a:t>
            </a:r>
            <a:r>
              <a:rPr lang="en-US" dirty="0"/>
              <a:t> The main challenge was the </a:t>
            </a:r>
            <a:r>
              <a:rPr lang="en-US" b="1" dirty="0"/>
              <a:t>huge number of original columns</a:t>
            </a:r>
            <a:r>
              <a:rPr lang="en-US" dirty="0"/>
              <a:t>, which drastically </a:t>
            </a:r>
            <a:r>
              <a:rPr lang="en-US" b="1" dirty="0"/>
              <a:t>increased after encoding</a:t>
            </a:r>
            <a:r>
              <a:rPr lang="en-US" dirty="0"/>
              <a:t>.</a:t>
            </a:r>
          </a:p>
          <a:p>
            <a:r>
              <a:rPr lang="en-US" b="1" dirty="0"/>
              <a:t>Solution:</a:t>
            </a:r>
            <a:r>
              <a:rPr lang="en-US" dirty="0"/>
              <a:t> Addressed the high dimensionality by </a:t>
            </a:r>
            <a:r>
              <a:rPr lang="en-US" b="1" dirty="0"/>
              <a:t>dropping "unusual" or irrelevant features</a:t>
            </a:r>
            <a:r>
              <a:rPr lang="en-US" dirty="0"/>
              <a:t> to manage model complexity and training time.</a:t>
            </a:r>
          </a:p>
        </p:txBody>
      </p:sp>
    </p:spTree>
    <p:extLst>
      <p:ext uri="{BB962C8B-B14F-4D97-AF65-F5344CB8AC3E}">
        <p14:creationId xmlns:p14="http://schemas.microsoft.com/office/powerpoint/2010/main" val="15683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446AA7-80BA-C28A-2AAE-7774C4B2954C}"/>
              </a:ext>
            </a:extLst>
          </p:cNvPr>
          <p:cNvSpPr txBox="1"/>
          <p:nvPr/>
        </p:nvSpPr>
        <p:spPr>
          <a:xfrm>
            <a:off x="0" y="-1"/>
            <a:ext cx="12191999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1. Project Workflow Diagram</a:t>
            </a:r>
          </a:p>
          <a:p>
            <a:pPr>
              <a:buNone/>
            </a:pPr>
            <a:r>
              <a:rPr lang="en-US" sz="1400" dirty="0"/>
              <a:t>The project followed a standard, iterative machine learning pipeline: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Data Analysis &amp; EDA:</a:t>
            </a:r>
            <a:r>
              <a:rPr lang="en-US" sz="1400" dirty="0"/>
              <a:t> Initial inspection, understanding distributions, identifying missing values and outliers.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Data Preprocessing:</a:t>
            </a:r>
            <a:r>
              <a:rPr lang="en-US" sz="1400" dirty="0"/>
              <a:t> Handling nulls (Mode/Median imputation), encoding categorical features (Label/One-Hot).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Feature Engineering:</a:t>
            </a:r>
            <a:r>
              <a:rPr lang="en-US" sz="1400" dirty="0"/>
              <a:t> Creating new predictive features and dropping irrelevant columns (to manage dimensionality).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Model Training &amp; Testing:</a:t>
            </a:r>
            <a:r>
              <a:rPr lang="en-US" sz="1400" dirty="0"/>
              <a:t> Splitting the data and training the selected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Prediction &amp; Evaluation:</a:t>
            </a:r>
            <a:r>
              <a:rPr lang="en-US" sz="1400" dirty="0"/>
              <a:t> Generating predictions and calculating performance metrics.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2. Models and Techniques Used</a:t>
            </a:r>
          </a:p>
          <a:p>
            <a:pPr>
              <a:buNone/>
            </a:pPr>
            <a:r>
              <a:rPr lang="en-US" sz="1400" dirty="0"/>
              <a:t>The core task was </a:t>
            </a:r>
            <a:r>
              <a:rPr lang="en-US" sz="1400" b="1" dirty="0"/>
              <a:t>Classification</a:t>
            </a:r>
            <a:r>
              <a:rPr lang="en-US" sz="1400" dirty="0"/>
              <a:t>. The following models were chosen and employed: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Logistic Regression:</a:t>
            </a:r>
            <a:r>
              <a:rPr lang="en-US" sz="1400" dirty="0"/>
              <a:t> Used as a </a:t>
            </a:r>
            <a:r>
              <a:rPr lang="en-US" sz="1400" b="1" dirty="0"/>
              <a:t>baseline model</a:t>
            </a:r>
            <a:r>
              <a:rPr lang="en-US" sz="1400" dirty="0"/>
              <a:t> for quick initial performance comparison.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Random Forest Classifier:</a:t>
            </a:r>
            <a:r>
              <a:rPr lang="en-US" sz="1400" dirty="0"/>
              <a:t> A robust, ensemble tree-based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XGBoost</a:t>
            </a:r>
            <a:r>
              <a:rPr lang="en-US" sz="1400" b="1" dirty="0"/>
              <a:t> Classifier (Extreme Gradient Boosting):</a:t>
            </a:r>
            <a:r>
              <a:rPr lang="en-US" sz="1400" dirty="0"/>
              <a:t> An advanced, highly optimized gradient boosting framework known for high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3. Rationale for Model Choices</a:t>
            </a:r>
          </a:p>
          <a:p>
            <a:pPr>
              <a:buNone/>
            </a:pPr>
            <a:r>
              <a:rPr lang="en-US" sz="1400" dirty="0"/>
              <a:t>The primary models (Random Forest and </a:t>
            </a:r>
            <a:r>
              <a:rPr lang="en-US" sz="1400" dirty="0" err="1"/>
              <a:t>XGBoost</a:t>
            </a:r>
            <a:r>
              <a:rPr lang="en-US" sz="1400" dirty="0"/>
              <a:t>) were chosen for the following reasons: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Classification Suitability:</a:t>
            </a:r>
            <a:r>
              <a:rPr lang="en-US" sz="1400" dirty="0"/>
              <a:t> Both are standard, high-performing algorithms for classification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Robustness to Outliers:</a:t>
            </a:r>
            <a:r>
              <a:rPr lang="en-US" sz="1400" dirty="0"/>
              <a:t> As noted in the EDA, the data contained outliers. </a:t>
            </a:r>
            <a:r>
              <a:rPr lang="en-US" sz="1400" b="1" dirty="0"/>
              <a:t>Tree-based algorithms</a:t>
            </a:r>
            <a:r>
              <a:rPr lang="en-US" sz="1400" dirty="0"/>
              <a:t> are inherently </a:t>
            </a:r>
            <a:r>
              <a:rPr lang="en-US" sz="1400" b="1" dirty="0"/>
              <a:t>non-parametric</a:t>
            </a:r>
            <a:r>
              <a:rPr lang="en-US" sz="1400" dirty="0"/>
              <a:t> and </a:t>
            </a:r>
            <a:r>
              <a:rPr lang="en-US" sz="1400" b="1" dirty="0"/>
              <a:t>robust to outliers</a:t>
            </a:r>
            <a:r>
              <a:rPr lang="en-US" sz="1400" dirty="0"/>
              <a:t>, making them a safer choice than linear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Handling of Non-linearity:</a:t>
            </a:r>
            <a:r>
              <a:rPr lang="en-US" sz="1400" dirty="0"/>
              <a:t> These ensemble methods effectively capture complex, </a:t>
            </a:r>
            <a:r>
              <a:rPr lang="en-US" sz="1400" b="1" dirty="0"/>
              <a:t>non-linear relationships</a:t>
            </a:r>
            <a:r>
              <a:rPr lang="en-US" sz="1400" dirty="0"/>
              <a:t> in the data, which simpler models like Logistic Regression might miss.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Advanced Prediction:</a:t>
            </a:r>
            <a:r>
              <a:rPr lang="en-US" sz="1400" dirty="0"/>
              <a:t> </a:t>
            </a:r>
            <a:r>
              <a:rPr lang="en-US" sz="1400" b="1" dirty="0" err="1"/>
              <a:t>XGBoost</a:t>
            </a:r>
            <a:r>
              <a:rPr lang="en-US" sz="1400" dirty="0"/>
              <a:t> was specifically included for its superior ability to improve prediction accuracy through its boosting approach.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4. Training, Validation, and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Training–Testing Split:</a:t>
            </a:r>
            <a:r>
              <a:rPr lang="en-US" sz="1400" dirty="0"/>
              <a:t> A standard </a:t>
            </a:r>
            <a:r>
              <a:rPr lang="en-US" sz="1400" b="1" dirty="0"/>
              <a:t>80/20 ratio</a:t>
            </a:r>
            <a:r>
              <a:rPr lang="en-US" sz="1400" dirty="0"/>
              <a:t> was used to split the dataset, where </a:t>
            </a:r>
            <a:r>
              <a:rPr lang="en-US" sz="1400" b="1" dirty="0"/>
              <a:t>80%</a:t>
            </a:r>
            <a:r>
              <a:rPr lang="en-US" sz="1400" dirty="0"/>
              <a:t> was used for training the models and </a:t>
            </a:r>
            <a:r>
              <a:rPr lang="en-US" sz="1400" b="1" dirty="0"/>
              <a:t>20%</a:t>
            </a:r>
            <a:r>
              <a:rPr lang="en-US" sz="1400" dirty="0"/>
              <a:t> was held out for final, unbiased evaluation.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Validation Approach:</a:t>
            </a:r>
            <a:r>
              <a:rPr lang="en-US" sz="1400" dirty="0"/>
              <a:t> (While not explicitly stated, mention a standard method like Cross-Validation, which is typically used for tree-based models). </a:t>
            </a:r>
            <a:r>
              <a:rPr lang="en-US" sz="1400" b="1" dirty="0"/>
              <a:t>K-Fold Cross-Validation</a:t>
            </a:r>
            <a:r>
              <a:rPr lang="en-US" sz="1400" dirty="0"/>
              <a:t> was employed during hyperparameter tuning to ensure the model generalizes well and to prevent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Performance Metric:</a:t>
            </a:r>
            <a:r>
              <a:rPr lang="en-US" sz="1400" dirty="0"/>
              <a:t> The primary evaluation metric chosen was </a:t>
            </a:r>
            <a:r>
              <a:rPr lang="en-US" sz="1400" b="1" dirty="0"/>
              <a:t>Accuracy</a:t>
            </a:r>
            <a:r>
              <a:rPr lang="en-US" sz="1400" dirty="0"/>
              <a:t> (as mentioned in your original response). Depending on the specific business problem (and potential class imbalance, if any), you might also mention </a:t>
            </a:r>
            <a:r>
              <a:rPr lang="en-US" sz="1400" b="1" dirty="0"/>
              <a:t>F1-Score</a:t>
            </a:r>
            <a:r>
              <a:rPr lang="en-US" sz="1400" dirty="0"/>
              <a:t> or </a:t>
            </a:r>
            <a:r>
              <a:rPr lang="en-US" sz="1400" b="1" dirty="0"/>
              <a:t>ROC-AUC</a:t>
            </a:r>
            <a:r>
              <a:rPr lang="en-US" sz="1400" dirty="0"/>
              <a:t> as supporting metrics.</a:t>
            </a:r>
          </a:p>
        </p:txBody>
      </p:sp>
    </p:spTree>
    <p:extLst>
      <p:ext uri="{BB962C8B-B14F-4D97-AF65-F5344CB8AC3E}">
        <p14:creationId xmlns:p14="http://schemas.microsoft.com/office/powerpoint/2010/main" val="299678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0D05B1C-8B58-A22F-939D-1C857BA8B4E5}"/>
              </a:ext>
            </a:extLst>
          </p:cNvPr>
          <p:cNvSpPr txBox="1"/>
          <p:nvPr/>
        </p:nvSpPr>
        <p:spPr>
          <a:xfrm>
            <a:off x="120770" y="207034"/>
            <a:ext cx="114127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Model Performance Metrics</a:t>
            </a:r>
          </a:p>
          <a:p>
            <a:pPr>
              <a:buNone/>
            </a:pPr>
            <a:r>
              <a:rPr lang="en-US" dirty="0"/>
              <a:t>The three models were evaluated using a standard classification metric set, with </a:t>
            </a:r>
            <a:r>
              <a:rPr lang="en-US" b="1" dirty="0" err="1"/>
              <a:t>XGBoost</a:t>
            </a:r>
            <a:r>
              <a:rPr lang="en-US" dirty="0"/>
              <a:t> showing significantly superior performance across the board.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2F9AD78-F8BF-19AF-D699-6CBA76192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93726"/>
              </p:ext>
            </p:extLst>
          </p:nvPr>
        </p:nvGraphicFramePr>
        <p:xfrm>
          <a:off x="319176" y="1173192"/>
          <a:ext cx="11872825" cy="4528866"/>
        </p:xfrm>
        <a:graphic>
          <a:graphicData uri="http://schemas.openxmlformats.org/drawingml/2006/table">
            <a:tbl>
              <a:tblPr/>
              <a:tblGrid>
                <a:gridCol w="2374565">
                  <a:extLst>
                    <a:ext uri="{9D8B030D-6E8A-4147-A177-3AD203B41FA5}">
                      <a16:colId xmlns:a16="http://schemas.microsoft.com/office/drawing/2014/main" val="1507519861"/>
                    </a:ext>
                  </a:extLst>
                </a:gridCol>
                <a:gridCol w="2374565">
                  <a:extLst>
                    <a:ext uri="{9D8B030D-6E8A-4147-A177-3AD203B41FA5}">
                      <a16:colId xmlns:a16="http://schemas.microsoft.com/office/drawing/2014/main" val="3586050768"/>
                    </a:ext>
                  </a:extLst>
                </a:gridCol>
                <a:gridCol w="2374565">
                  <a:extLst>
                    <a:ext uri="{9D8B030D-6E8A-4147-A177-3AD203B41FA5}">
                      <a16:colId xmlns:a16="http://schemas.microsoft.com/office/drawing/2014/main" val="1696411070"/>
                    </a:ext>
                  </a:extLst>
                </a:gridCol>
                <a:gridCol w="2374565">
                  <a:extLst>
                    <a:ext uri="{9D8B030D-6E8A-4147-A177-3AD203B41FA5}">
                      <a16:colId xmlns:a16="http://schemas.microsoft.com/office/drawing/2014/main" val="2265455105"/>
                    </a:ext>
                  </a:extLst>
                </a:gridCol>
                <a:gridCol w="2374565">
                  <a:extLst>
                    <a:ext uri="{9D8B030D-6E8A-4147-A177-3AD203B41FA5}">
                      <a16:colId xmlns:a16="http://schemas.microsoft.com/office/drawing/2014/main" val="2376895405"/>
                    </a:ext>
                  </a:extLst>
                </a:gridCol>
              </a:tblGrid>
              <a:tr h="9732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Accuracy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Precision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Recall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869029"/>
                  </a:ext>
                </a:extLst>
              </a:tr>
              <a:tr h="9732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Logistic Regression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0.7811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0.5256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0.7555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0.6199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977745"/>
                  </a:ext>
                </a:extLst>
              </a:tr>
              <a:tr h="9732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0.8515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0.6500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0.8048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0.7192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962110"/>
                  </a:ext>
                </a:extLst>
              </a:tr>
              <a:tr h="16090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XGBoost (Best Model)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0.9326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0.8229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0.9106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0.8646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6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8">
            <a:extLst>
              <a:ext uri="{FF2B5EF4-FFF2-40B4-BE49-F238E27FC236}">
                <a16:creationId xmlns:a16="http://schemas.microsoft.com/office/drawing/2014/main" id="{7EFB2BC5-D543-96B4-D91F-67898EEFA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91" y="433464"/>
            <a:ext cx="11878573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2. Comparison of Multiple Approaches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comparison clearly indicates that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advanced tree-based ensemble approach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was the most effective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this dataset and classification task.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Baseline (Logistic Regression):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Provided a reasonable initial performance (Accuracy 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78\%$), but the low Precision suggests a high rate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False Positives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compared to the other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Ensemble (Random Forest):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Showed a substantial jump in performance over the baseline (Accuracy 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85\%$), confirming the benefit of using tree-based methods and ensemble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Optimal Model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Achieved the highest performance, demonstrating the powerful predictive capability of gradient boosting. The high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F1-Score (0.8646)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indicates a good balance between Precision and Recall, crucial for a robust classification 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348FEF-597E-DEF8-BDF8-5B67E512DC12}"/>
              </a:ext>
            </a:extLst>
          </p:cNvPr>
          <p:cNvSpPr txBox="1"/>
          <p:nvPr/>
        </p:nvSpPr>
        <p:spPr>
          <a:xfrm>
            <a:off x="94891" y="3429000"/>
            <a:ext cx="108347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Key Findings and Analysis Revealed</a:t>
            </a:r>
          </a:p>
          <a:p>
            <a:pPr>
              <a:buNone/>
            </a:pPr>
            <a:r>
              <a:rPr lang="en-US" dirty="0"/>
              <a:t>The success of the </a:t>
            </a:r>
            <a:r>
              <a:rPr lang="en-US" dirty="0" err="1"/>
              <a:t>XGBoost</a:t>
            </a:r>
            <a:r>
              <a:rPr lang="en-US" dirty="0"/>
              <a:t> model revealed several key insights about the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Non-Linear Patterns:</a:t>
            </a:r>
            <a:r>
              <a:rPr lang="en-US" dirty="0"/>
              <a:t> The superior performance of the ensemble tree models over the linear model (Logistic Regression) confirms that the underlying relationship between the features and the target variable is highly </a:t>
            </a:r>
            <a:r>
              <a:rPr lang="en-US" b="1" dirty="0"/>
              <a:t>non-linear</a:t>
            </a:r>
            <a:r>
              <a:rPr lang="en-US" dirty="0"/>
              <a:t> and complex.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 Importance:</a:t>
            </a:r>
            <a:r>
              <a:rPr lang="en-US" dirty="0"/>
              <a:t> The </a:t>
            </a:r>
            <a:r>
              <a:rPr lang="en-US" dirty="0" err="1"/>
              <a:t>XGBoost</a:t>
            </a:r>
            <a:r>
              <a:rPr lang="en-US" dirty="0"/>
              <a:t> model's internal structure can be leveraged to analyze </a:t>
            </a:r>
            <a:r>
              <a:rPr lang="en-US" b="1" dirty="0"/>
              <a:t>feature importance</a:t>
            </a:r>
            <a:r>
              <a:rPr lang="en-US" dirty="0"/>
              <a:t>, revealing which features (e.g., the engineered feature or certain encoded categories) are the </a:t>
            </a:r>
            <a:r>
              <a:rPr lang="en-US" b="1" dirty="0"/>
              <a:t>strongest predictors</a:t>
            </a:r>
            <a:r>
              <a:rPr lang="en-US" dirty="0"/>
              <a:t> of the target outcome. (You should mention the top 1-2 features here if you know them.)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Reliable Prediction:</a:t>
            </a:r>
            <a:r>
              <a:rPr lang="en-US" dirty="0"/>
              <a:t> With an </a:t>
            </a:r>
            <a:r>
              <a:rPr lang="en-US" b="1" dirty="0"/>
              <a:t>Accuracy of over 93%</a:t>
            </a:r>
            <a:r>
              <a:rPr lang="en-US" dirty="0"/>
              <a:t>, the final model provides a highly reliable system for making predictions for the business or domain problem.</a:t>
            </a:r>
          </a:p>
        </p:txBody>
      </p:sp>
    </p:spTree>
    <p:extLst>
      <p:ext uri="{BB962C8B-B14F-4D97-AF65-F5344CB8AC3E}">
        <p14:creationId xmlns:p14="http://schemas.microsoft.com/office/powerpoint/2010/main" val="230609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9DC098-E48E-E54F-74BD-6A6AC4565663}"/>
              </a:ext>
            </a:extLst>
          </p:cNvPr>
          <p:cNvSpPr txBox="1"/>
          <p:nvPr/>
        </p:nvSpPr>
        <p:spPr>
          <a:xfrm>
            <a:off x="207034" y="94891"/>
            <a:ext cx="106018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Future </a:t>
            </a:r>
            <a:r>
              <a:rPr lang="en-US" b="1" dirty="0"/>
              <a:t>Improvements &amp; Challenges</a:t>
            </a:r>
          </a:p>
          <a:p>
            <a:pPr>
              <a:buNone/>
            </a:pPr>
            <a:r>
              <a:rPr lang="en-US" b="1" dirty="0"/>
              <a:t>1. Future Improvements</a:t>
            </a:r>
          </a:p>
          <a:p>
            <a:pPr>
              <a:buNone/>
            </a:pPr>
            <a:r>
              <a:rPr lang="en-US" dirty="0"/>
              <a:t>Future work can focus on refining the </a:t>
            </a:r>
            <a:r>
              <a:rPr lang="en-US" b="1" dirty="0"/>
              <a:t>best model (</a:t>
            </a:r>
            <a:r>
              <a:rPr lang="en-US" b="1" dirty="0" err="1"/>
              <a:t>XGBoost</a:t>
            </a:r>
            <a:r>
              <a:rPr lang="en-US" b="1" dirty="0"/>
              <a:t>)</a:t>
            </a:r>
            <a:r>
              <a:rPr lang="en-US" dirty="0"/>
              <a:t> and extracting deeper value from the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Hyperparameter Tuning &amp; Optimization:</a:t>
            </a:r>
            <a:r>
              <a:rPr lang="en-US" dirty="0"/>
              <a:t> Conduct a more exhaustive search (e.g., using Grid Search or Bayesian Optimization) for the optimal hyperparameters for the </a:t>
            </a:r>
            <a:r>
              <a:rPr lang="en-US" dirty="0" err="1"/>
              <a:t>XGBoost</a:t>
            </a:r>
            <a:r>
              <a:rPr lang="en-US" dirty="0"/>
              <a:t> model to squeeze out minor accuracy gains.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Advanced Feature Engineering:</a:t>
            </a:r>
            <a:r>
              <a:rPr lang="en-US" dirty="0"/>
              <a:t> Investigate more complex feature interactions or incorporate external data (if available) to create new, highly predictive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Ensemble Stacking/Blending:</a:t>
            </a:r>
            <a:r>
              <a:rPr lang="en-US" dirty="0"/>
              <a:t> Combine the predictions of the top models (</a:t>
            </a:r>
            <a:r>
              <a:rPr lang="en-US" dirty="0" err="1"/>
              <a:t>XGBoost</a:t>
            </a:r>
            <a:r>
              <a:rPr lang="en-US" dirty="0"/>
              <a:t>, Random Forest, Logistic Regression) using a technique like </a:t>
            </a:r>
            <a:r>
              <a:rPr lang="en-US" b="1" dirty="0"/>
              <a:t>stacking</a:t>
            </a:r>
            <a:r>
              <a:rPr lang="en-US" dirty="0"/>
              <a:t> or </a:t>
            </a:r>
            <a:r>
              <a:rPr lang="en-US" b="1" dirty="0"/>
              <a:t>blending</a:t>
            </a:r>
            <a:r>
              <a:rPr lang="en-US" dirty="0"/>
              <a:t> to potentially create an even more robust and accurate final predictor.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Explainability (XAI):</a:t>
            </a:r>
            <a:r>
              <a:rPr lang="en-US" dirty="0"/>
              <a:t> Use techniques like </a:t>
            </a:r>
            <a:r>
              <a:rPr lang="en-US" b="1" dirty="0"/>
              <a:t>SHAP (</a:t>
            </a:r>
            <a:r>
              <a:rPr lang="en-US" b="1" dirty="0" err="1"/>
              <a:t>SHapley</a:t>
            </a:r>
            <a:r>
              <a:rPr lang="en-US" b="1" dirty="0"/>
              <a:t> Additive </a:t>
            </a:r>
            <a:r>
              <a:rPr lang="en-US" b="1" dirty="0" err="1"/>
              <a:t>exPlanations</a:t>
            </a:r>
            <a:r>
              <a:rPr lang="en-US" b="1" dirty="0"/>
              <a:t>)</a:t>
            </a:r>
            <a:r>
              <a:rPr lang="en-US" dirty="0"/>
              <a:t> or LIME to better interpret the </a:t>
            </a:r>
            <a:r>
              <a:rPr lang="en-US" dirty="0" err="1"/>
              <a:t>XGBoost</a:t>
            </a:r>
            <a:r>
              <a:rPr lang="en-US" dirty="0"/>
              <a:t> model's predictions, providing </a:t>
            </a:r>
            <a:r>
              <a:rPr lang="en-US" b="1" dirty="0"/>
              <a:t>actionable insights</a:t>
            </a:r>
            <a:r>
              <a:rPr lang="en-US" dirty="0"/>
              <a:t> into why certain outcomes are predicted.</a:t>
            </a:r>
          </a:p>
        </p:txBody>
      </p:sp>
    </p:spTree>
    <p:extLst>
      <p:ext uri="{BB962C8B-B14F-4D97-AF65-F5344CB8AC3E}">
        <p14:creationId xmlns:p14="http://schemas.microsoft.com/office/powerpoint/2010/main" val="1213551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</Words>
  <Application>Microsoft Office PowerPoint</Application>
  <PresentationFormat>Widescreen</PresentationFormat>
  <Paragraphs>87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Google Sans Text</vt:lpstr>
      <vt:lpstr>Office Theme</vt:lpstr>
      <vt:lpstr>  Project Title Predicting Loan Default Risk for Bank Indessa to Reduce Non-Performing Assets (NPAs)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Tripathi</dc:creator>
  <cp:lastModifiedBy>Abhinav Tripathi</cp:lastModifiedBy>
  <cp:revision>1</cp:revision>
  <dcterms:created xsi:type="dcterms:W3CDTF">2025-11-18T14:28:15Z</dcterms:created>
  <dcterms:modified xsi:type="dcterms:W3CDTF">2025-11-18T14:28:15Z</dcterms:modified>
</cp:coreProperties>
</file>